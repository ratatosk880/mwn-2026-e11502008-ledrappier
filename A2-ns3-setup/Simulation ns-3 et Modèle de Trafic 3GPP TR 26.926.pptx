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22" Type="http://schemas.openxmlformats.org/officeDocument/2006/relationships/font" Target="fonts/SpaceGrotesk-regular.fntdata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SpaceGrotes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574827"/>
            <a:ext cx="533400" cy="381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2245072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3GPP TR 26.926 · NETWORK SIMULATION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597497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XR &amp; Cloud Gaming Traffic Modeling in ns-3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965227"/>
            <a:ext cx="773906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Simulator setup and empirical verification of statistical distributions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962150"/>
            <a:ext cx="51816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962150"/>
            <a:ext cx="51816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5G SPECIFICATION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3GPP TR 26.926 Framework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85800" y="3642419"/>
            <a:ext cx="52768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Immersive Services:</a:t>
            </a:r>
            <a:r>
              <a:rPr b="0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Latency-critical high-resolution interactive video streams.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VIDEO CADENCE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Strict Transmission Periodicity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863578" y="3119437"/>
            <a:ext cx="4464843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16.6 ms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52500" y="4376737"/>
            <a:ext cx="10287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Continuous Rate:</a:t>
            </a:r>
            <a:r>
              <a:rPr b="0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Constant inter-frame interval dictated by a 60 fps display.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685800" y="2900362"/>
            <a:ext cx="5648325" cy="2124075"/>
          </a:xfrm>
          <a:prstGeom prst="roundRect">
            <a:avLst>
              <a:gd fmla="val 71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APPLICATION LOAD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Video Frame Size Modeling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2337196" y="3367087"/>
            <a:ext cx="2345531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25 KB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1283493" y="4357687"/>
            <a:ext cx="4452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Mean frame size (Standard deviation: 5 KB)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791325" y="3482429"/>
            <a:ext cx="481012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Truncated Gaussian:</a:t>
            </a:r>
            <a:r>
              <a:rPr b="0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Statistical model reflecting visual variations in dynamic gaming.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685800" y="3005137"/>
            <a:ext cx="3454449" cy="1457325"/>
          </a:xfrm>
          <a:prstGeom prst="roundRect">
            <a:avLst>
              <a:gd fmla="val 78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368849" y="3005137"/>
            <a:ext cx="3454449" cy="1457325"/>
          </a:xfrm>
          <a:prstGeom prst="roundRect">
            <a:avLst>
              <a:gd fmla="val 78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8051899" y="3005137"/>
            <a:ext cx="3454449" cy="1457325"/>
          </a:xfrm>
          <a:prstGeom prst="roundRect">
            <a:avLst>
              <a:gd fmla="val 78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DEPLOYMENT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Linux Build &amp; Dependencies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685800" y="6096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Toolchain Validation: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Resolved system dependencies prior to running the model.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923925" y="3319462"/>
            <a:ext cx="372274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23925" y="3643312"/>
            <a:ext cx="39088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 Extraction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923925" y="3948112"/>
            <a:ext cx="37227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Official ns-3.48 tarball archive.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4606974" y="3319462"/>
            <a:ext cx="372274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4606974" y="3643312"/>
            <a:ext cx="39088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Dependency Resolution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4606974" y="3948112"/>
            <a:ext cx="37227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CMake and Ninja installation.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290024" y="3319462"/>
            <a:ext cx="372274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290024" y="3643312"/>
            <a:ext cx="3901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Validated Build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290024" y="3948112"/>
            <a:ext cx="37227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Clean build via ./ns3.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685800" y="2952750"/>
            <a:ext cx="4986337" cy="1562100"/>
          </a:xfrm>
          <a:prstGeom prst="roundRect">
            <a:avLst>
              <a:gd fmla="val 85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519862" y="2952750"/>
            <a:ext cx="4986337" cy="1562100"/>
          </a:xfrm>
          <a:prstGeom prst="roundRect">
            <a:avLst>
              <a:gd fmla="val 85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6937" y="360045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SIMULATED TOPOLOGY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Point-to-Point Architecture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85800" y="6096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Controlled Channel: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Point-to-point link configured at 100 Mbit/s with 2 ms delay.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1038225" y="3305175"/>
            <a:ext cx="56194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Sender Node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1038225" y="3686175"/>
            <a:ext cx="53518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IP Address: 10.1.1.1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038225" y="3962400"/>
            <a:ext cx="53518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Cloud Gaming Render Server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6872287" y="3305175"/>
            <a:ext cx="53197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Receiver Node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872287" y="3686175"/>
            <a:ext cx="53197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IP Address: 10.1.1.2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872287" y="3962400"/>
            <a:ext cx="53197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UDP Packet Sink Client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TRANSPORT LAYER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Standard MTU Segmentation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083843" y="3119437"/>
            <a:ext cx="4024312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1500 B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-184546" y="4376737"/>
            <a:ext cx="125610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Network Packetization:</a:t>
            </a:r>
            <a:r>
              <a:rPr b="0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Large video frames segmented into standard MTU Ethernet datagrams.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BURST BEHAVIOR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Intra-Burst Inter-Arrival Time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137421" y="3119437"/>
            <a:ext cx="3917156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0.2 ms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-119062" y="4376737"/>
            <a:ext cx="12430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Clustered Dispatch:</a:t>
            </a:r>
            <a:r>
              <a:rPr b="0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Rapid succession of packet fragments composing the same video frame.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00150"/>
            <a:ext cx="10972800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 title="traffic_model_cdf_pdf.png"/>
          <p:cNvPicPr preferRelativeResize="0"/>
          <p:nvPr/>
        </p:nvPicPr>
        <p:blipFill rotWithShape="1">
          <a:blip r:embed="rId4">
            <a:alphaModFix/>
          </a:blip>
          <a:srcRect b="4162" l="0" r="0" t="4171"/>
          <a:stretch/>
        </p:blipFill>
        <p:spPr>
          <a:xfrm>
            <a:off x="2248125" y="1266688"/>
            <a:ext cx="7029864" cy="468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EMPIRICAL VALIDATION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Observed Statistical Distributions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09600" y="6172200"/>
            <a:ext cx="1158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Statistical Consistency: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Validated probability densities matching cumulative distribution curves.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685800" y="2681287"/>
            <a:ext cx="5257800" cy="2105025"/>
          </a:xfrm>
          <a:prstGeom prst="roundRect">
            <a:avLst>
              <a:gd fmla="val 63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6248400" y="2681287"/>
            <a:ext cx="5257800" cy="2105025"/>
          </a:xfrm>
          <a:prstGeom prst="roundRect">
            <a:avLst>
              <a:gd fmla="val 63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DISTRIBUTION ANALYSIS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Packet Size Distribution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685800" y="6096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Standardized Profiling: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Dominant spike at 1500 B confirming compliant segmentation.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469106" y="3033712"/>
            <a:ext cx="56911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&gt; 94%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326826" y="3929062"/>
            <a:ext cx="5975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Full MTU Datagrams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469106" y="4233862"/>
            <a:ext cx="5691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Saturated packets at ~1500 bytes.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6031706" y="3033712"/>
            <a:ext cx="56911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 6%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5889426" y="3929062"/>
            <a:ext cx="5975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Residual Frame Fragments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6031706" y="4233862"/>
            <a:ext cx="5691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Remaining tail packet per video frame.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685800" y="2752725"/>
            <a:ext cx="5257800" cy="1962150"/>
          </a:xfrm>
          <a:prstGeom prst="roundRect">
            <a:avLst>
              <a:gd fmla="val 679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6248400" y="2752725"/>
            <a:ext cx="5257800" cy="1962150"/>
          </a:xfrm>
          <a:prstGeom prst="roundRect">
            <a:avLst>
              <a:gd fmla="val 679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TEMPORAL DYNAMICS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Bimodal IAT Distribution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685800" y="6096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Bimodal Signature: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Signature fingerprint of bursty periodic video streaming.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469106" y="3105150"/>
            <a:ext cx="569118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0.2 ms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326826" y="3857625"/>
            <a:ext cx="5975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Intra-Burst Arrival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469106" y="4162425"/>
            <a:ext cx="5691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94% of observed intervals.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6031706" y="3105150"/>
            <a:ext cx="569118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12–15 ms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5889426" y="3857625"/>
            <a:ext cx="5975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Inter-Frame Idle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6031706" y="4162425"/>
            <a:ext cx="5691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Idle window between consecutive frames.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/>
          <p:nvPr/>
        </p:nvSpPr>
        <p:spPr>
          <a:xfrm>
            <a:off x="5867400" y="452809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4697015" y="2301329"/>
            <a:ext cx="2797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SUMMARY &amp; CONCLUSION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345281" y="2653754"/>
            <a:ext cx="1150143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3GPP TR 26.926 Model Validated in ns-3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1928812" y="3507134"/>
            <a:ext cx="8334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 Verification: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Accurate alignment between 3GPP specifications and simulation results.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